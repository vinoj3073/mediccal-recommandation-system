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Lato"/>
      <p:regular r:id="rId16"/>
    </p:embeddedFont>
    <p:embeddedFont>
      <p:font typeface="Lato"/>
      <p:regular r:id="rId17"/>
    </p:embeddedFont>
    <p:embeddedFont>
      <p:font typeface="Lato"/>
      <p:regular r:id="rId18"/>
    </p:embeddedFont>
    <p:embeddedFont>
      <p:font typeface="Lato"/>
      <p:regular r:id="rId19"/>
    </p:embeddedFont>
    <p:embeddedFont>
      <p:font typeface="Lato"/>
      <p:regular r:id="rId20"/>
    </p:embeddedFont>
    <p:embeddedFont>
      <p:font typeface="Lato"/>
      <p:regular r:id="rId21"/>
    </p:embeddedFont>
    <p:embeddedFont>
      <p:font typeface="Lato"/>
      <p:regular r:id="rId22"/>
    </p:embeddedFont>
    <p:embeddedFont>
      <p:font typeface="Lato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Medical Recommendation System with Machine Learning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AI-powered solution for healthcare accessibility, disease prediction, and personalized health guidance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16825"/>
            <a:ext cx="95720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Healthcare Challenges &amp; Our Solution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79232"/>
            <a:ext cx="6407944" cy="2633543"/>
          </a:xfrm>
          <a:prstGeom prst="roundRect">
            <a:avLst>
              <a:gd name="adj" fmla="val 1292"/>
            </a:avLst>
          </a:prstGeom>
          <a:solidFill>
            <a:srgbClr val="E5DFD2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6060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Current Problems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09646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Misinformation from online symptom searches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0604" y="4538663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Lack of medical professionals in rural areas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0604" y="4980861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Overcrowded hospitals causing delayed treatment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0604" y="5423059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Preventive healthcare often ignored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3379232"/>
            <a:ext cx="6408063" cy="2633543"/>
          </a:xfrm>
          <a:prstGeom prst="roundRect">
            <a:avLst>
              <a:gd name="adj" fmla="val 1292"/>
            </a:avLst>
          </a:prstGeom>
          <a:solidFill>
            <a:srgbClr val="E5DFD2"/>
          </a:solidFill>
          <a:ln/>
        </p:spPr>
      </p:sp>
      <p:sp>
        <p:nvSpPr>
          <p:cNvPr id="10" name="Text 8"/>
          <p:cNvSpPr/>
          <p:nvPr/>
        </p:nvSpPr>
        <p:spPr>
          <a:xfrm>
            <a:off x="7655362" y="36060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55362" y="4096464"/>
            <a:ext cx="59544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AI-powered Medical Recommendation System that predicts diseases from symptoms and provides personalized guidance on medications, diet, precautions, and workouts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544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27853"/>
            <a:ext cx="4196358" cy="1931908"/>
          </a:xfrm>
          <a:prstGeom prst="roundRect">
            <a:avLst>
              <a:gd name="adj" fmla="val 1761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790" y="2827853"/>
            <a:ext cx="121920" cy="1931908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sp>
        <p:nvSpPr>
          <p:cNvPr id="5" name="Text 3"/>
          <p:cNvSpPr/>
          <p:nvPr/>
        </p:nvSpPr>
        <p:spPr>
          <a:xfrm>
            <a:off x="1173004" y="3085147"/>
            <a:ext cx="355985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Develop reliable ML model for disease prediction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216962" y="2827853"/>
            <a:ext cx="4196358" cy="1931908"/>
          </a:xfrm>
          <a:prstGeom prst="roundRect">
            <a:avLst>
              <a:gd name="adj" fmla="val 1761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6962" y="2827853"/>
            <a:ext cx="121920" cy="1931908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sp>
        <p:nvSpPr>
          <p:cNvPr id="8" name="Text 6"/>
          <p:cNvSpPr/>
          <p:nvPr/>
        </p:nvSpPr>
        <p:spPr>
          <a:xfrm>
            <a:off x="5596176" y="3085147"/>
            <a:ext cx="35598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Create recommendation system for medications, diets, precautions, and workouts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40133" y="2827853"/>
            <a:ext cx="4196358" cy="1931908"/>
          </a:xfrm>
          <a:prstGeom prst="roundRect">
            <a:avLst>
              <a:gd name="adj" fmla="val 1761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40133" y="2827853"/>
            <a:ext cx="121920" cy="1931908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sp>
        <p:nvSpPr>
          <p:cNvPr id="11" name="Text 9"/>
          <p:cNvSpPr/>
          <p:nvPr/>
        </p:nvSpPr>
        <p:spPr>
          <a:xfrm>
            <a:off x="10019348" y="3085147"/>
            <a:ext cx="355985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Design user-friendly web application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93790" y="4986576"/>
            <a:ext cx="4196358" cy="1577578"/>
          </a:xfrm>
          <a:prstGeom prst="roundRect">
            <a:avLst>
              <a:gd name="adj" fmla="val 2157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3790" y="4986576"/>
            <a:ext cx="121920" cy="1577578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sp>
        <p:nvSpPr>
          <p:cNvPr id="14" name="Text 12"/>
          <p:cNvSpPr/>
          <p:nvPr/>
        </p:nvSpPr>
        <p:spPr>
          <a:xfrm>
            <a:off x="1173004" y="5243870"/>
            <a:ext cx="355985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Promote preventive healthcare through personalized advice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216962" y="4986576"/>
            <a:ext cx="4196358" cy="1577578"/>
          </a:xfrm>
          <a:prstGeom prst="roundRect">
            <a:avLst>
              <a:gd name="adj" fmla="val 2157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6962" y="4986576"/>
            <a:ext cx="121920" cy="1577578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sp>
        <p:nvSpPr>
          <p:cNvPr id="17" name="Text 15"/>
          <p:cNvSpPr/>
          <p:nvPr/>
        </p:nvSpPr>
        <p:spPr>
          <a:xfrm>
            <a:off x="5596176" y="5243870"/>
            <a:ext cx="355985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Bridge healthcare gap in rural and underserved communities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685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System Architecture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1917502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User Input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2634734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Patient enters symptoms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278386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3505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ML Model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399561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Processes symptoms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639270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Disease Prediction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535650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Identifies possible conditions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6000155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41074" y="6226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641074" y="6717387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Provides personalized guidance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9756"/>
            <a:ext cx="64805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Datasets &amp; Preprocessing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355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Datasets Used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71665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Training.csv → Symptoms and diseases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Symptom-severity.csv → Severity levels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medications.csv → General medicines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diets.csv → Dietary recommendations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4854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precautions_df.csv → Precautions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92764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workout_df.csv → Fitness routines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31355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Preprocessing Steps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99521" y="371665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cleaning (removing missing/duplicate values)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Converting categorical symptoms to numerical form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Assigning severity scores for accurate prediction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Splitting data into training and testing sets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2023"/>
            <a:ext cx="64975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Machine Learning Models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624012" y="3778806"/>
            <a:ext cx="29550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Decision Tree Classifier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69224"/>
            <a:ext cx="3785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Hierarchical decision-making based on symptom patterns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717" y="4174688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552462"/>
            <a:ext cx="31605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Random Forest Classifier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042880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Ensemble method combining multiple decision trees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4326" y="2791063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005030"/>
            <a:ext cx="30839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Support Vector Machine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495449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Classification algorithm finding optimal boundaries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4326" y="5558314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93790" y="69245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Models were evaluated based on accuracy, with the best-performing model selected for the final system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9483" y="496372"/>
            <a:ext cx="4496514" cy="56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Impact &amp; Benefits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29483" y="1418153"/>
            <a:ext cx="6595824" cy="2043232"/>
          </a:xfrm>
          <a:prstGeom prst="roundRect">
            <a:avLst>
              <a:gd name="adj" fmla="val 1320"/>
            </a:avLst>
          </a:prstGeom>
          <a:solidFill>
            <a:srgbClr val="E5DFD2"/>
          </a:solidFill>
          <a:ln/>
        </p:spPr>
      </p:sp>
      <p:sp>
        <p:nvSpPr>
          <p:cNvPr id="4" name="Shape 2"/>
          <p:cNvSpPr/>
          <p:nvPr/>
        </p:nvSpPr>
        <p:spPr>
          <a:xfrm>
            <a:off x="809268" y="1597938"/>
            <a:ext cx="539472" cy="539472"/>
          </a:xfrm>
          <a:prstGeom prst="roundRect">
            <a:avLst>
              <a:gd name="adj" fmla="val 16948212"/>
            </a:avLst>
          </a:prstGeom>
          <a:solidFill>
            <a:srgbClr val="28282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620" y="1715929"/>
            <a:ext cx="242768" cy="3034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9268" y="2317194"/>
            <a:ext cx="224825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For Patients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09268" y="2706053"/>
            <a:ext cx="6236256" cy="57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Early awareness and guidance, reducing dependency on unreliable online sources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05092" y="1418153"/>
            <a:ext cx="6595824" cy="2043232"/>
          </a:xfrm>
          <a:prstGeom prst="roundRect">
            <a:avLst>
              <a:gd name="adj" fmla="val 1320"/>
            </a:avLst>
          </a:prstGeom>
          <a:solidFill>
            <a:srgbClr val="E5DFD2"/>
          </a:solidFill>
          <a:ln/>
        </p:spPr>
      </p:sp>
      <p:sp>
        <p:nvSpPr>
          <p:cNvPr id="9" name="Shape 6"/>
          <p:cNvSpPr/>
          <p:nvPr/>
        </p:nvSpPr>
        <p:spPr>
          <a:xfrm>
            <a:off x="7584877" y="1597938"/>
            <a:ext cx="539472" cy="539472"/>
          </a:xfrm>
          <a:prstGeom prst="roundRect">
            <a:avLst>
              <a:gd name="adj" fmla="val 16948212"/>
            </a:avLst>
          </a:prstGeom>
          <a:solidFill>
            <a:srgbClr val="28282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228" y="1715929"/>
            <a:ext cx="242768" cy="3034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4877" y="2317194"/>
            <a:ext cx="224825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For Doctors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7584877" y="2706053"/>
            <a:ext cx="6236256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Support system for diagnosis, reducing burden for minor health issues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29483" y="3641169"/>
            <a:ext cx="6595824" cy="1755458"/>
          </a:xfrm>
          <a:prstGeom prst="roundRect">
            <a:avLst>
              <a:gd name="adj" fmla="val 1537"/>
            </a:avLst>
          </a:prstGeom>
          <a:solidFill>
            <a:srgbClr val="E5DFD2"/>
          </a:solidFill>
          <a:ln/>
        </p:spPr>
      </p:sp>
      <p:sp>
        <p:nvSpPr>
          <p:cNvPr id="14" name="Shape 10"/>
          <p:cNvSpPr/>
          <p:nvPr/>
        </p:nvSpPr>
        <p:spPr>
          <a:xfrm>
            <a:off x="809268" y="3820954"/>
            <a:ext cx="539472" cy="539472"/>
          </a:xfrm>
          <a:prstGeom prst="roundRect">
            <a:avLst>
              <a:gd name="adj" fmla="val 16948212"/>
            </a:avLst>
          </a:prstGeom>
          <a:solidFill>
            <a:srgbClr val="28282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620" y="3938945"/>
            <a:ext cx="242768" cy="3034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9268" y="4540210"/>
            <a:ext cx="224825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For Society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809268" y="4929068"/>
            <a:ext cx="6236256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Increased health awareness through personalized recommendations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405092" y="3641169"/>
            <a:ext cx="6595824" cy="1755458"/>
          </a:xfrm>
          <a:prstGeom prst="roundRect">
            <a:avLst>
              <a:gd name="adj" fmla="val 1537"/>
            </a:avLst>
          </a:prstGeom>
          <a:solidFill>
            <a:srgbClr val="E5DFD2"/>
          </a:solidFill>
          <a:ln/>
        </p:spPr>
      </p:sp>
      <p:sp>
        <p:nvSpPr>
          <p:cNvPr id="19" name="Shape 14"/>
          <p:cNvSpPr/>
          <p:nvPr/>
        </p:nvSpPr>
        <p:spPr>
          <a:xfrm>
            <a:off x="7584877" y="3820954"/>
            <a:ext cx="539472" cy="539472"/>
          </a:xfrm>
          <a:prstGeom prst="roundRect">
            <a:avLst>
              <a:gd name="adj" fmla="val 16948212"/>
            </a:avLst>
          </a:prstGeom>
          <a:solidFill>
            <a:srgbClr val="28282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3228" y="3938945"/>
            <a:ext cx="242768" cy="30349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84877" y="4540210"/>
            <a:ext cx="2280999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For Healthcare System</a:t>
            </a:r>
            <a:endParaRPr lang="en-US" sz="1750" dirty="0"/>
          </a:p>
        </p:txBody>
      </p:sp>
      <p:sp>
        <p:nvSpPr>
          <p:cNvPr id="22" name="Text 16"/>
          <p:cNvSpPr/>
          <p:nvPr/>
        </p:nvSpPr>
        <p:spPr>
          <a:xfrm>
            <a:off x="7584877" y="4929068"/>
            <a:ext cx="6236256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Reduced burden on hospitals, improved accessibility in underserved areas</a:t>
            </a:r>
            <a:endParaRPr lang="en-US" sz="14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483" y="5801201"/>
            <a:ext cx="3117533" cy="172962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94340" y="5760720"/>
            <a:ext cx="8814078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3769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Limitations &amp; Future Enhancements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622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Current Limitations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203377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Recommendations are general, not a substitute for doctor consultation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37138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Limited dataset size affects accuracy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17648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Cannot handle emergency medical situations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342721" y="2622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42721" y="3203377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Integration with Electronic Health Records (EHRs)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4008477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Adding real-time chatbots for interaction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481357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Multi-language support for rural users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561867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Mobile app version for wider accessibility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42721" y="6423779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Integration with wearable devices for real-time health monitoring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7607" y="2311003"/>
            <a:ext cx="4919186" cy="36074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284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133951" y="2932509"/>
            <a:ext cx="72162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Medical Recommendation System successfully predicts diseases from symptoms and provides safe, general recommendations on medications, diet, workouts, and precautions.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2677358"/>
            <a:ext cx="30480" cy="1599009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453151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While it cannot replace certified doctors, it ensures awareness, preventive care, and early intervention, which can significantly improve healthcare accessibility and patient outcomes.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87537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system bridges the gap in healthcare accessibility, acting as a virtual health assistant that supports patients in making informed health decisions.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2025-08-30T02:56:53Z</dcterms:created>
  <dcterms:modified xsi:type="dcterms:W3CDTF">2025-08-30T02:56:53Z</dcterms:modified>
</cp:coreProperties>
</file>